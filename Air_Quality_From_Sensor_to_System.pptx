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1"/>
    <a:srgbClr val="1C2E3C"/>
    <a:srgbClr val="F0F0F0"/>
    <a:srgbClr val="EEF1EF"/>
    <a:srgbClr val="F7F3ED"/>
    <a:srgbClr val="1B9374"/>
    <a:srgbClr val="3D94CB"/>
    <a:srgbClr val="942B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97" autoAdjust="0"/>
    <p:restoredTop sz="95794" autoAdjust="0"/>
  </p:normalViewPr>
  <p:slideViewPr>
    <p:cSldViewPr>
      <p:cViewPr>
        <p:scale>
          <a:sx n="73" d="100"/>
          <a:sy n="73" d="100"/>
        </p:scale>
        <p:origin x="856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B4FBA5D-6710-A38F-B39F-330B5F76B43E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AE3C777-C2C2-BB3E-C43B-7A18E23A98DA}"/>
                </a:ext>
              </a:extLst>
            </p:cNvPr>
            <p:cNvSpPr/>
            <p:nvPr/>
          </p:nvSpPr>
          <p:spPr>
            <a:xfrm>
              <a:off x="1422400" y="2819400"/>
              <a:ext cx="13944600" cy="1143000"/>
            </a:xfrm>
            <a:prstGeom prst="rect">
              <a:avLst/>
            </a:prstGeom>
            <a:solidFill>
              <a:srgbClr val="1C2E3C"/>
            </a:solidFill>
            <a:ln>
              <a:solidFill>
                <a:srgbClr val="1C2E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T" sz="4400" dirty="0">
                <a:solidFill>
                  <a:schemeClr val="bg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D0A1823-5DDC-E1BF-1F5C-647234E7EC76}"/>
                </a:ext>
              </a:extLst>
            </p:cNvPr>
            <p:cNvSpPr/>
            <p:nvPr/>
          </p:nvSpPr>
          <p:spPr>
            <a:xfrm>
              <a:off x="10261600" y="1371600"/>
              <a:ext cx="4838700" cy="1143000"/>
            </a:xfrm>
            <a:prstGeom prst="rect">
              <a:avLst/>
            </a:prstGeom>
            <a:solidFill>
              <a:srgbClr val="1C2E3C"/>
            </a:solidFill>
            <a:ln>
              <a:solidFill>
                <a:srgbClr val="1C2E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T" sz="4400" dirty="0">
                <a:solidFill>
                  <a:schemeClr val="bg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CC21B9D-CC9D-4508-312F-287C58322310}"/>
                </a:ext>
              </a:extLst>
            </p:cNvPr>
            <p:cNvSpPr/>
            <p:nvPr/>
          </p:nvSpPr>
          <p:spPr>
            <a:xfrm>
              <a:off x="11417300" y="8458200"/>
              <a:ext cx="4711700" cy="609600"/>
            </a:xfrm>
            <a:prstGeom prst="rect">
              <a:avLst/>
            </a:prstGeom>
            <a:solidFill>
              <a:srgbClr val="1C2E3C"/>
            </a:solidFill>
            <a:ln>
              <a:solidFill>
                <a:srgbClr val="1C2E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T" sz="4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tube with blue and orange dots&#10;&#10;AI-generated content may be incorrect.">
            <a:extLst>
              <a:ext uri="{FF2B5EF4-FFF2-40B4-BE49-F238E27FC236}">
                <a16:creationId xmlns:a16="http://schemas.microsoft.com/office/drawing/2014/main" id="{A7363145-190C-5FA6-A87C-DA76D6CD0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1" y="2057400"/>
            <a:ext cx="5943600" cy="3744468"/>
          </a:xfrm>
          <a:prstGeom prst="rect">
            <a:avLst/>
          </a:prstGeom>
        </p:spPr>
      </p:pic>
      <p:pic>
        <p:nvPicPr>
          <p:cNvPr id="4" name="Picture 3" descr="A diagram of a lungs&#10;&#10;AI-generated content may be incorrect.">
            <a:extLst>
              <a:ext uri="{FF2B5EF4-FFF2-40B4-BE49-F238E27FC236}">
                <a16:creationId xmlns:a16="http://schemas.microsoft.com/office/drawing/2014/main" id="{0DE363A5-78DE-A27A-6E9D-3FD91937A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93"/>
          <a:stretch>
            <a:fillRect/>
          </a:stretch>
        </p:blipFill>
        <p:spPr>
          <a:xfrm>
            <a:off x="4953001" y="5784283"/>
            <a:ext cx="5943600" cy="19125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4A6223-EEA9-B7EC-208B-A9D36D04CA4D}"/>
              </a:ext>
            </a:extLst>
          </p:cNvPr>
          <p:cNvSpPr/>
          <p:nvPr/>
        </p:nvSpPr>
        <p:spPr>
          <a:xfrm>
            <a:off x="965200" y="1981199"/>
            <a:ext cx="3505200" cy="5961811"/>
          </a:xfrm>
          <a:prstGeom prst="rect">
            <a:avLst/>
          </a:prstGeom>
          <a:solidFill>
            <a:schemeClr val="bg1"/>
          </a:solidFill>
          <a:ln>
            <a:solidFill>
              <a:srgbClr val="942B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IT" sz="3200" dirty="0">
                <a:solidFill>
                  <a:srgbClr val="942B8E"/>
                </a:solidFill>
              </a:rPr>
              <a:t>PM10 – Particelle inalabili</a:t>
            </a:r>
          </a:p>
          <a:p>
            <a:endParaRPr lang="en-IT" sz="2400" dirty="0">
              <a:solidFill>
                <a:schemeClr val="tx1"/>
              </a:solidFill>
            </a:endParaRPr>
          </a:p>
          <a:p>
            <a:r>
              <a:rPr lang="en-IT" sz="2400" b="1" dirty="0">
                <a:solidFill>
                  <a:schemeClr val="tx1"/>
                </a:solidFill>
              </a:rPr>
              <a:t>Sorgenti</a:t>
            </a:r>
            <a:r>
              <a:rPr lang="en-IT" sz="2400" dirty="0">
                <a:solidFill>
                  <a:schemeClr val="tx1"/>
                </a:solidFill>
              </a:rPr>
              <a:t>: polveri stradali, pollini, detriti di freni, spray</a:t>
            </a:r>
          </a:p>
          <a:p>
            <a:endParaRPr lang="en-IT" sz="2400" dirty="0">
              <a:solidFill>
                <a:schemeClr val="tx1"/>
              </a:solidFill>
            </a:endParaRPr>
          </a:p>
          <a:p>
            <a:r>
              <a:rPr lang="en-IT" sz="2400" b="1" dirty="0">
                <a:solidFill>
                  <a:schemeClr val="tx1"/>
                </a:solidFill>
              </a:rPr>
              <a:t>Impatto</a:t>
            </a:r>
            <a:r>
              <a:rPr lang="en-IT" sz="2400" dirty="0">
                <a:solidFill>
                  <a:schemeClr val="tx1"/>
                </a:solidFill>
              </a:rPr>
              <a:t>: si fermano prevalentemente nelle vie aeree superiori (naso, faringe, trachea)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2C587B-F1BD-C866-CECD-D2FE4BD121F1}"/>
              </a:ext>
            </a:extLst>
          </p:cNvPr>
          <p:cNvSpPr/>
          <p:nvPr/>
        </p:nvSpPr>
        <p:spPr>
          <a:xfrm>
            <a:off x="812800" y="1981199"/>
            <a:ext cx="152400" cy="5961811"/>
          </a:xfrm>
          <a:prstGeom prst="rect">
            <a:avLst/>
          </a:prstGeom>
          <a:solidFill>
            <a:srgbClr val="942B8E"/>
          </a:solidFill>
          <a:ln>
            <a:solidFill>
              <a:srgbClr val="942B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D8BAF-EFC4-5B9E-84B6-80A56CAEBD2D}"/>
              </a:ext>
            </a:extLst>
          </p:cNvPr>
          <p:cNvSpPr/>
          <p:nvPr/>
        </p:nvSpPr>
        <p:spPr>
          <a:xfrm>
            <a:off x="11455400" y="1981199"/>
            <a:ext cx="3505200" cy="5961811"/>
          </a:xfrm>
          <a:prstGeom prst="rect">
            <a:avLst/>
          </a:prstGeom>
          <a:solidFill>
            <a:schemeClr val="bg1"/>
          </a:solidFill>
          <a:ln>
            <a:solidFill>
              <a:srgbClr val="3D94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IT" sz="3200" dirty="0">
                <a:solidFill>
                  <a:srgbClr val="3D94CB"/>
                </a:solidFill>
              </a:rPr>
              <a:t>PM10 – Particelle inalabili</a:t>
            </a:r>
          </a:p>
          <a:p>
            <a:endParaRPr lang="en-IT" sz="2400" dirty="0">
              <a:solidFill>
                <a:schemeClr val="tx1"/>
              </a:solidFill>
            </a:endParaRPr>
          </a:p>
          <a:p>
            <a:r>
              <a:rPr lang="en-IT" sz="2400" b="1" dirty="0">
                <a:solidFill>
                  <a:schemeClr val="tx1"/>
                </a:solidFill>
              </a:rPr>
              <a:t>Sorgenti</a:t>
            </a:r>
            <a:r>
              <a:rPr lang="en-IT" sz="2400" dirty="0">
                <a:solidFill>
                  <a:schemeClr val="tx1"/>
                </a:solidFill>
              </a:rPr>
              <a:t>: combustione (traffico veicolare, riscaldamento a legna/gas, industria)</a:t>
            </a:r>
          </a:p>
          <a:p>
            <a:endParaRPr lang="en-IT" sz="2400" dirty="0">
              <a:solidFill>
                <a:schemeClr val="tx1"/>
              </a:solidFill>
            </a:endParaRPr>
          </a:p>
          <a:p>
            <a:r>
              <a:rPr lang="en-IT" sz="2400" b="1" dirty="0">
                <a:solidFill>
                  <a:schemeClr val="tx1"/>
                </a:solidFill>
              </a:rPr>
              <a:t>Impatto</a:t>
            </a:r>
            <a:r>
              <a:rPr lang="en-IT" sz="2400" dirty="0">
                <a:solidFill>
                  <a:schemeClr val="tx1"/>
                </a:solidFill>
              </a:rPr>
              <a:t>: penetrano profondamente fino agli alveoli polmonari e nel circolo sanguigno. Associati a patologie cardiovascolari, polmonari.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0B40A-2B13-B38D-C6B2-C07988AB2CED}"/>
              </a:ext>
            </a:extLst>
          </p:cNvPr>
          <p:cNvSpPr/>
          <p:nvPr/>
        </p:nvSpPr>
        <p:spPr>
          <a:xfrm>
            <a:off x="11303000" y="1981199"/>
            <a:ext cx="152400" cy="5961811"/>
          </a:xfrm>
          <a:prstGeom prst="rect">
            <a:avLst/>
          </a:prstGeom>
          <a:solidFill>
            <a:srgbClr val="3D94CB"/>
          </a:solidFill>
          <a:ln>
            <a:solidFill>
              <a:srgbClr val="3D94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797FCB5-C760-84A6-1F61-B4347B9772CD}"/>
              </a:ext>
            </a:extLst>
          </p:cNvPr>
          <p:cNvSpPr/>
          <p:nvPr/>
        </p:nvSpPr>
        <p:spPr>
          <a:xfrm>
            <a:off x="812800" y="362790"/>
            <a:ext cx="14147800" cy="780209"/>
          </a:xfrm>
          <a:prstGeom prst="roundRect">
            <a:avLst/>
          </a:prstGeom>
          <a:solidFill>
            <a:srgbClr val="1C2E3C"/>
          </a:solidFill>
          <a:ln>
            <a:solidFill>
              <a:srgbClr val="1C2E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rtlCol="0" anchor="ctr"/>
          <a:lstStyle/>
          <a:p>
            <a:r>
              <a:rPr lang="en-IT" sz="4400" dirty="0">
                <a:solidFill>
                  <a:schemeClr val="bg1"/>
                </a:solidFill>
              </a:rPr>
              <a:t>Particulate matter: dimensioni, sorgente e impatto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C7ABCA-9A6F-27F5-2998-1A1E92E9531B}"/>
              </a:ext>
            </a:extLst>
          </p:cNvPr>
          <p:cNvSpPr/>
          <p:nvPr/>
        </p:nvSpPr>
        <p:spPr>
          <a:xfrm>
            <a:off x="821070" y="8001000"/>
            <a:ext cx="14139530" cy="780209"/>
          </a:xfrm>
          <a:prstGeom prst="rect">
            <a:avLst/>
          </a:prstGeom>
          <a:solidFill>
            <a:srgbClr val="1B93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400" i="1" dirty="0">
                <a:solidFill>
                  <a:schemeClr val="bg1"/>
                </a:solidFill>
              </a:rPr>
              <a:t>Non esiste una soglia di sicurezza, il rischio è continuo anche a basse concentrazioni.</a:t>
            </a:r>
          </a:p>
        </p:txBody>
      </p:sp>
    </p:spTree>
    <p:extLst>
      <p:ext uri="{BB962C8B-B14F-4D97-AF65-F5344CB8AC3E}">
        <p14:creationId xmlns:p14="http://schemas.microsoft.com/office/powerpoint/2010/main" val="4191204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E5DD4CC-E7A1-E16C-8A93-38CD424E959E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30802BA-912C-24D7-FA19-651CD949944E}"/>
                </a:ext>
              </a:extLst>
            </p:cNvPr>
            <p:cNvSpPr/>
            <p:nvPr/>
          </p:nvSpPr>
          <p:spPr>
            <a:xfrm>
              <a:off x="11417300" y="8458200"/>
              <a:ext cx="4711700" cy="609600"/>
            </a:xfrm>
            <a:prstGeom prst="rect">
              <a:avLst/>
            </a:prstGeom>
            <a:solidFill>
              <a:srgbClr val="F7F3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T" sz="4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25C29A2-3DC5-579B-12D5-1B5FD8328007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663EBE4-E36E-4AF1-BEF4-4AC26C034FCC}"/>
                </a:ext>
              </a:extLst>
            </p:cNvPr>
            <p:cNvSpPr/>
            <p:nvPr/>
          </p:nvSpPr>
          <p:spPr>
            <a:xfrm>
              <a:off x="11417300" y="8763000"/>
              <a:ext cx="4711700" cy="304800"/>
            </a:xfrm>
            <a:prstGeom prst="rect">
              <a:avLst/>
            </a:prstGeom>
            <a:solidFill>
              <a:srgbClr val="EEF1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T" sz="4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AA1CD4-487A-2A4B-85F3-A6548E90F3F2}"/>
              </a:ext>
            </a:extLst>
          </p:cNvPr>
          <p:cNvSpPr/>
          <p:nvPr/>
        </p:nvSpPr>
        <p:spPr>
          <a:xfrm>
            <a:off x="11417300" y="8763000"/>
            <a:ext cx="4711700" cy="304800"/>
          </a:xfrm>
          <a:prstGeom prst="rect">
            <a:avLst/>
          </a:prstGeom>
          <a:solidFill>
            <a:srgbClr val="1C2E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T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EEC828-687F-63B0-D037-02DFEA278847}"/>
              </a:ext>
            </a:extLst>
          </p:cNvPr>
          <p:cNvSpPr/>
          <p:nvPr/>
        </p:nvSpPr>
        <p:spPr>
          <a:xfrm>
            <a:off x="11417300" y="8763000"/>
            <a:ext cx="4711700" cy="304800"/>
          </a:xfrm>
          <a:prstGeom prst="rect">
            <a:avLst/>
          </a:prstGeom>
          <a:solidFill>
            <a:srgbClr val="F7F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T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38F76B-7799-69D0-9095-C3C9D5CABDA6}"/>
              </a:ext>
            </a:extLst>
          </p:cNvPr>
          <p:cNvSpPr/>
          <p:nvPr/>
        </p:nvSpPr>
        <p:spPr>
          <a:xfrm>
            <a:off x="11417300" y="8763000"/>
            <a:ext cx="4711700" cy="304800"/>
          </a:xfrm>
          <a:prstGeom prst="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T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34FBF50-A35F-7973-4C6F-8ACADF879E66}"/>
              </a:ext>
            </a:extLst>
          </p:cNvPr>
          <p:cNvSpPr/>
          <p:nvPr/>
        </p:nvSpPr>
        <p:spPr>
          <a:xfrm>
            <a:off x="11417300" y="8763000"/>
            <a:ext cx="4711700" cy="304800"/>
          </a:xfrm>
          <a:prstGeom prst="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T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95</Words>
  <Application>Microsoft Macintosh PowerPoint</Application>
  <PresentationFormat>Custom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Caterina Camborata</cp:lastModifiedBy>
  <cp:revision>2</cp:revision>
  <dcterms:created xsi:type="dcterms:W3CDTF">2006-08-16T00:00:00Z</dcterms:created>
  <dcterms:modified xsi:type="dcterms:W3CDTF">2026-03-30T20:56:43Z</dcterms:modified>
</cp:coreProperties>
</file>
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92D1"/>
    <a:srgbClr val="8F2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 err="1">
                <a:solidFill>
                  <a:srgbClr val="FFFFFF"/>
                </a:solidFill>
                <a:latin typeface="Calibri"/>
              </a:rPr>
              <a:t>Qualità</a:t>
            </a:r>
            <a:r>
              <a:rPr sz="5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5200" b="1" i="0" dirty="0" err="1">
                <a:solidFill>
                  <a:srgbClr val="FFFFFF"/>
                </a:solidFill>
                <a:latin typeface="Calibri"/>
              </a:rPr>
              <a:t>dell'aria</a:t>
            </a:r>
            <a:endParaRPr sz="5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FE1CB"/>
                </a:solidFill>
                <a:latin typeface="Calibri"/>
              </a:rPr>
              <a:t>dal sensore SDS011 ai limiti normativi WHO e 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780"/>
                </a:solidFill>
                <a:latin typeface="Calibri"/>
              </a:rPr>
              <a:t>Monitoraggio citizen science · Sensor.community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PM2.5  ·  PM10  ·  ESP8266  ·  Nova SDS011  ·  Sensor.community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PM2.5 e PM10: definizioni, sorgenti, effetti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780"/>
                </a:solidFill>
                <a:latin typeface="Calibri"/>
              </a:rPr>
              <a:t>Particulate matter — le particelle sospese nell'aria che respiriamo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4864" cy="1920240"/>
          </a:xfrm>
          <a:prstGeom prst="rect">
            <a:avLst/>
          </a:prstGeom>
          <a:solidFill>
            <a:srgbClr val="8F2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984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PM10 — particelle inalabili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31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Diametro ≤ 10 μm. Incluse polveri stradali, pollini, detriti di freni. Si fermano prevalentemente nelle vie aeree superiori (naso, faringe, trachea).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54864" cy="1920240"/>
          </a:xfrm>
          <a:prstGeom prst="rect">
            <a:avLst/>
          </a:prstGeom>
          <a:solidFill>
            <a:srgbClr val="389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4041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PM2.5 — particelle fini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Diametro ≤ 2.5 μm. Originate da combustione (traffico, riscaldamento, industria). Penetrano fino agli alveoli polmonari e nel circolo sanguigno: sono il parametro più rilevante per la salute.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1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Principali sorgenti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31720"/>
            <a:ext cx="54864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23500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Traffico veicolare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55117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Scarichi, usura di pneumatici e freni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862072"/>
            <a:ext cx="54864" cy="41148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28803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Riscaldamento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0815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Combustione di legna, gas, gasolio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392424"/>
            <a:ext cx="54864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3410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Industria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611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Emissioni produttive e cantieri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922775"/>
            <a:ext cx="54864" cy="41148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36208" y="394106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  <a:latin typeface="Calibri"/>
              </a:rPr>
              <a:t>Naturale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4142231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Polvere desertica, pollini, spray marino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805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4B4A"/>
                </a:solidFill>
                <a:latin typeface="Calibri"/>
              </a:rPr>
              <a:t>Effetti sulla salute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8920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  <a:latin typeface="Calibri"/>
              </a:rPr>
              <a:t>Esposizione cronica a PM2.5 è associata a patologie cardiovascolari, polmonari (BPCO, asma), aumento della mortalità. Non esiste una soglia di sicurezza — il rischio è continuo anche a basse concentrazioni.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780"/>
                </a:solidFill>
                <a:latin typeface="Calibri"/>
              </a:rPr>
              <a:t>Sorgenti: EPA (https://www.epa.gov/pm-pollution)  ·  WHO AQG 2021 (https://iris.who.int/handle/10665/345329)</a:t>
            </a:r>
          </a:p>
        </p:txBody>
      </p:sp>
      <p:pic>
        <p:nvPicPr>
          <p:cNvPr id="31" name="Picture 30" descr="A diagram of a tube with blue and orange dots&#10;&#10;AI-generated content may be incorrect.">
            <a:extLst>
              <a:ext uri="{FF2B5EF4-FFF2-40B4-BE49-F238E27FC236}">
                <a16:creationId xmlns:a16="http://schemas.microsoft.com/office/drawing/2014/main" id="{4CC5E454-0DD4-A2C0-B086-23CBF40A1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388" y="1773936"/>
            <a:ext cx="2409372" cy="1517904"/>
          </a:xfrm>
          <a:prstGeom prst="rect">
            <a:avLst/>
          </a:prstGeom>
        </p:spPr>
      </p:pic>
      <p:pic>
        <p:nvPicPr>
          <p:cNvPr id="33" name="Picture 32" descr="A diagram of a lungs&#10;&#10;AI-generated content may be incorrect.">
            <a:extLst>
              <a:ext uri="{FF2B5EF4-FFF2-40B4-BE49-F238E27FC236}">
                <a16:creationId xmlns:a16="http://schemas.microsoft.com/office/drawing/2014/main" id="{25AA8FC4-9FB5-8235-C1BC-26FB04DD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544"/>
          <a:stretch>
            <a:fillRect/>
          </a:stretch>
        </p:blipFill>
        <p:spPr>
          <a:xfrm>
            <a:off x="9386388" y="3273737"/>
            <a:ext cx="2409372" cy="768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Il dispositivo: Nova SDS011 + ESP8266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780"/>
                </a:solidFill>
                <a:latin typeface="Calibri"/>
              </a:rPr>
              <a:t>Come funziona la misura, con che frequenza, quali dati 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Principio: laser scattering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05840" cy="9601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3042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1343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Ventola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24328"/>
            <a:ext cx="896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EE"/>
                </a:solidFill>
                <a:latin typeface="Calibri"/>
              </a:rPr>
              <a:t>Flusso aria
nella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633472"/>
            <a:ext cx="155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286000"/>
            <a:ext cx="1005840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19072" y="23042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31343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624328"/>
            <a:ext cx="896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Illumina le
particelle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2633472"/>
            <a:ext cx="155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286000"/>
            <a:ext cx="1005840" cy="9601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9232" y="23042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2313432"/>
            <a:ext cx="768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FFFFF"/>
                </a:solidFill>
                <a:latin typeface="Calibri"/>
              </a:rPr>
              <a:t>Fotodiodo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9232" y="2624328"/>
            <a:ext cx="896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EE"/>
                </a:solidFill>
                <a:latin typeface="Calibri"/>
              </a:rPr>
              <a:t>Luce diffusa ∝
conc. + dim.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2633472"/>
            <a:ext cx="155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286000"/>
            <a:ext cx="1005840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23042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31343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624328"/>
            <a:ext cx="896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Calibri"/>
              </a:rPr>
              <a:t>Calcola
PM2.5/PM10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2633472"/>
            <a:ext cx="155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286000"/>
            <a:ext cx="1005840" cy="9601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59552" y="23042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5584" y="231343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WiFi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2624328"/>
            <a:ext cx="896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EE"/>
                </a:solidFill>
                <a:latin typeface="Calibri"/>
              </a:rPr>
              <a:t>Invia al
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429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Specifiche tecniche SDS011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822191"/>
            <a:ext cx="54864" cy="3108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8587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Grandezze misurate: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3858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PM2.5 e PM10 in μg/m³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24528"/>
            <a:ext cx="54864" cy="3108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2611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Range di misura: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232" y="4261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0 – 999.9 μg/m³  ·  risoluzione 0.3 μg/m³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626864"/>
            <a:ext cx="54864" cy="3108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6634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Frequenza nativa: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9232" y="4663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1 campione/secondo (1 Hz)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29200"/>
            <a:ext cx="54864" cy="3108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0657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Frequenza rete: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50657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~1 campione ogni 160 s (firmware Sensor.community)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431536"/>
            <a:ext cx="54864" cy="3108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4681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Limite umidità: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9232" y="54681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Max 70% — letture inaffidabili sopra questa soglia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833872"/>
            <a:ext cx="54864" cy="3108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870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Vita laser: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9232" y="5870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8.000 ore (uso discontinuo consigliato)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18745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Colonne CSV principali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267712"/>
            <a:ext cx="54864" cy="40233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68312" y="2295144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SDS_P1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8312" y="2496312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PM10 in μg/m³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03720" y="2798064"/>
            <a:ext cx="54864" cy="402336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68312" y="2825496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SDS_P2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68312" y="3026664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PM2.5 in μg/m³ — colonna principale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3328415"/>
            <a:ext cx="54864" cy="402336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68312" y="3355847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Temp/Humidity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8312" y="3557015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DHT22: temperatura e umidità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3858768"/>
            <a:ext cx="54864" cy="402336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68312" y="3886200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Signal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68312" y="4087368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Potenza segnale WiFi in dBm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4389120"/>
            <a:ext cx="54864" cy="402336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68312" y="4416552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Samples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68312" y="4617720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Contatore campioni dal boot (diagn.)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03720" y="4919472"/>
            <a:ext cx="54864" cy="402336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068312" y="4946904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coverage_pct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68312" y="5148072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% campioni ricevuti vs attesi/ora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5449823"/>
            <a:ext cx="54864" cy="402336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68312" y="5477255"/>
            <a:ext cx="1828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3A"/>
                </a:solidFill>
                <a:latin typeface="Consolas"/>
              </a:rPr>
              <a:t>quality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68312" y="5678423"/>
            <a:ext cx="5029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780"/>
                </a:solidFill>
                <a:latin typeface="Calibri"/>
              </a:rPr>
              <a:t>Flag: good / humid / low_cov / bad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780"/>
                </a:solidFill>
                <a:latin typeface="Calibri"/>
              </a:rPr>
              <a:t>Datasheet SDS011: https://cdn-reichelt.de/documents/datenblatt/X200/SDS011-DATASHEET.pdf  ·  Sensor.community: https://sensor.community/it/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La normativa: WHO 2021 e Direttive 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780"/>
                </a:solidFill>
                <a:latin typeface="Calibri"/>
              </a:rPr>
              <a:t>Valori soglia, come leggerli, il tema dei giorni di superamento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324612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90195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Indicatore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874519"/>
            <a:ext cx="141732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2463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PM2.5 (μg/m³)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9784" y="1874519"/>
            <a:ext cx="141732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2936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PM10 (μg/m³)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1874519"/>
            <a:ext cx="150876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3408" y="19019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1874519"/>
            <a:ext cx="1508760" cy="36576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9019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Vigore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58568"/>
            <a:ext cx="32461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231343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  <a:latin typeface="Calibri"/>
              </a:rPr>
              <a:t>WHO 2021 — annuo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9312" y="2258568"/>
            <a:ext cx="14173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0752" y="231343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9784" y="2258568"/>
            <a:ext cx="14173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21224" y="231343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0256" y="2258568"/>
            <a:ext cx="150876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11696" y="231343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Linea guida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2258568"/>
            <a:ext cx="150876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3608" y="231343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ora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42616"/>
            <a:ext cx="3246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2697480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  <a:latin typeface="Calibri"/>
              </a:rPr>
              <a:t>WHO 2021 — 24h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9312" y="2642616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30752" y="269748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9784" y="2642616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1224" y="269748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0256" y="2642616"/>
            <a:ext cx="1508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6" y="26974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Linea guida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2168" y="2642616"/>
            <a:ext cx="1508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93608" y="26974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ora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26664"/>
            <a:ext cx="32461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79" y="3081528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UE Dir. 2008/50 — annuo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39312" y="3026664"/>
            <a:ext cx="14173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30752" y="3081528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9784" y="3026664"/>
            <a:ext cx="14173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21224" y="3081528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0256" y="3026664"/>
            <a:ext cx="150876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11696" y="308152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Limite legale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02168" y="3026664"/>
            <a:ext cx="150876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93608" y="308152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fino al 2029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10712"/>
            <a:ext cx="3246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79" y="3465576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UE Dir. 2008/50 — 24h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39312" y="3410712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30752" y="3465576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9784" y="3410712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21224" y="3465576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50*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0256" y="3410712"/>
            <a:ext cx="1508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11696" y="34655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Limite legale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02168" y="3410712"/>
            <a:ext cx="1508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93608" y="34655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fino al 2029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794760"/>
            <a:ext cx="32461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79" y="3849624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UE Dir. 2024/2881 — annuo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39312" y="3794760"/>
            <a:ext cx="14173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730752" y="38496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9784" y="3794760"/>
            <a:ext cx="141732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221224" y="38496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20256" y="3794760"/>
            <a:ext cx="150876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711696" y="384962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Limite legale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02168" y="3794760"/>
            <a:ext cx="1508760" cy="347472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93608" y="384962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dal 2030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178808"/>
            <a:ext cx="3246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79" y="423367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  <a:latin typeface="Calibri"/>
              </a:rPr>
              <a:t>UE Dir. 2024/2881 — 24h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39312" y="4178808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30752" y="42336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9784" y="4178808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21224" y="42336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45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0256" y="4178808"/>
            <a:ext cx="1508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11696" y="423367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Limite legale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02168" y="4178808"/>
            <a:ext cx="1508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93608" y="423367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  <a:latin typeface="Calibri"/>
              </a:rPr>
              <a:t>dal 2030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" y="4617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780"/>
                </a:solidFill>
                <a:latin typeface="Calibri"/>
              </a:rPr>
              <a:t>* PM10 giornaliero UE: il limite di 50 μg/m³ non deve essere superato più di 35 volte per anno civile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919472"/>
            <a:ext cx="3767328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20040" y="4919472"/>
            <a:ext cx="54864" cy="15727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84632" y="5029200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Media annua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" y="5376672"/>
            <a:ext cx="349300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Si calcola come media aritmetica di tutti i valori giornalieri dell'anno. Cattura l'esposizione cronica. Confrontabile con i limiti annuali WHO e UE.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70248" y="4919472"/>
            <a:ext cx="3767328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270248" y="4919472"/>
            <a:ext cx="54864" cy="157276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34840" y="5029200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Media 24h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4840" y="5376672"/>
            <a:ext cx="349300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Media di tutti i campioni in un giorno solare. Cattura gli episodi acuti. La UE per PM10 ammette max 35 superamenti/anno del limite 50 μg/m³.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0456" y="4919472"/>
            <a:ext cx="3767328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220456" y="4919472"/>
            <a:ext cx="54864" cy="1572768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85048" y="5029200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Perché non sommare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85048" y="5376672"/>
            <a:ext cx="349300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Le concentrazioni in μg/m³ vanno mediate, non sommate: sommare i valori di giorni diversi non ha significato fisico (come sommare le temperature).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780"/>
                </a:solidFill>
                <a:latin typeface="Calibri"/>
              </a:rPr>
              <a:t>WHO AQG 2021: https://iris.who.int/handle/10665/345329  ·  Dir. 2008/50/EC: https://eur-lex.europa.eu/eli/dir/2008/50/oj/eng  ·  Dir. 2024/2881: https://eur-lex.europa.eu/EN/legal-content/summary/cleaner-air-for-europe.html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Analisi dei dati: dal raw al confronto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780"/>
                </a:solidFill>
                <a:latin typeface="Calibri"/>
              </a:rPr>
              <a:t>Qualità del dato → pulizia → aggregazione → confronto con le soglie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1783080" cy="9601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~541 righe/giorno
160s per campione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1762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874519"/>
            <a:ext cx="1783080" cy="960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Flag: good, humid
low_cov, bad, no_data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5" y="21762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1376" y="1874519"/>
            <a:ext cx="1783080" cy="96012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24528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PULIZIA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Scarto umidità &gt;70%
Gap WiFi isolati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1762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74519"/>
            <a:ext cx="1783080" cy="9601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6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EE"/>
                </a:solidFill>
                <a:latin typeface="Calibri"/>
              </a:rPr>
              <a:t>Media ponderata
coverage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1762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2" y="1874519"/>
            <a:ext cx="1783080" cy="9601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01584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GIORNALIERO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EE"/>
                </a:solidFill>
                <a:latin typeface="Calibri"/>
              </a:rPr>
              <a:t>Media pesata
n_hours_good ≥18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1762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874519"/>
            <a:ext cx="1783080" cy="9601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ANNUALE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EE"/>
                </a:solidFill>
                <a:latin typeface="Calibri"/>
              </a:rPr>
              <a:t>Media ponderata
su giorni affidabili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3A"/>
                </a:solidFill>
                <a:latin typeface="Calibri"/>
              </a:rPr>
              <a:t>Quali granularità servono e perché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74720"/>
            <a:ext cx="3767328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474720"/>
            <a:ext cx="54864" cy="26060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584448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Giornaliero — obbligatorio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931920"/>
            <a:ext cx="34930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I limiti WHO 24h (PM2.5 15 μg/m³, PM10 45 μg/m³) e il conteggio dei giorni sopra soglia UE per PM10 (max 35 giorni/anno a &gt;50 μg/m³) richiedono la granularità giornaliera.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7" y="5733288"/>
            <a:ext cx="1129284" cy="2743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1" y="5760720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NORMATIVO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3474720"/>
            <a:ext cx="3767328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70248" y="3474720"/>
            <a:ext cx="54864" cy="260604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3584448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Mensile — analitico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931920"/>
            <a:ext cx="34930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Non previsto dalle direttive, ma utile per visualizzare stagionalità, picchi invernali (inversioni termiche in pianura padana) e trend nel tempo. Non comparabile direttamente con le soglie normative.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71416" y="5733288"/>
            <a:ext cx="1129284" cy="274320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79" y="5760720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ANALITICO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0456" y="3474720"/>
            <a:ext cx="3767328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20456" y="3474720"/>
            <a:ext cx="54864" cy="26060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85048" y="3584448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  <a:latin typeface="Calibri"/>
              </a:rPr>
              <a:t>Annuale — obbligatorio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3931920"/>
            <a:ext cx="34930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  <a:latin typeface="Calibri"/>
              </a:rPr>
              <a:t>I limiti annui (WHO: PM2.5 5 μg/m³, PM10 15 μg/m³ · UE 2030: PM2.5 10 μg/m³, PM10 20 μg/m³) si calcolano come media su tutto l'anno solare, ponderata per i giorni con dati affidabili.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21624" y="5733288"/>
            <a:ext cx="1129284" cy="2743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76488" y="5760720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NORMATIVO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780"/>
                </a:solidFill>
                <a:latin typeface="Calibri"/>
              </a:rPr>
              <a:t>Script aggregazione: hourly → daily → monthly con media ponderata per n_pm_valid  ·  Dashboard: Dash + Plotly  ·  Dati: api-rrd.madavi.de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1001</Words>
  <Application>Microsoft Macintosh PowerPoint</Application>
  <PresentationFormat>Custom</PresentationFormat>
  <Paragraphs>148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Caterina Camborata</cp:lastModifiedBy>
  <cp:revision>3</cp:revision>
  <dcterms:created xsi:type="dcterms:W3CDTF">2013-01-27T09:14:16Z</dcterms:created>
  <dcterms:modified xsi:type="dcterms:W3CDTF">2026-03-31T08:21:15Z</dcterms:modified>
  <cp:category/>
</cp:coreProperties>
</file>